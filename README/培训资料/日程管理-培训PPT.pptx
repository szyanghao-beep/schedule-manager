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F8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188720"/>
            <a:ext cx="2926080" cy="1463040"/>
          </a:xfrm>
          <a:prstGeom prst="roundRect">
            <a:avLst>
              <a:gd name="adj" fmla="val 7500"/>
            </a:avLst>
          </a:prstGeom>
          <a:solidFill>
            <a:srgbClr val="4F8E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" y="1417320"/>
            <a:ext cx="12801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64592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F8E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77240" y="27432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日程管理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2296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使用培训 · 从零掌握时间管理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45720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四象限 · 时间块 · GTD 收件箱 · 周回顾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6126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 v2.1.0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822960"/>
          </a:xfrm>
          <a:prstGeom prst="rect">
            <a:avLst/>
          </a:prstGeom>
          <a:solidFill>
            <a:srgbClr val="4F8EF7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64592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培训目标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868680"/>
            <a:ext cx="11183112" cy="0"/>
          </a:xfrm>
          <a:prstGeom prst="line">
            <a:avLst/>
          </a:prstGeom>
          <a:noFill/>
          <a:ln w="19050">
            <a:solidFill>
              <a:srgbClr val="E6EA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446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日程管理 v2.1.0 · 使用培训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91672" y="644652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371600"/>
            <a:ext cx="5303520" cy="1828800"/>
          </a:xfrm>
          <a:prstGeom prst="roundRect">
            <a:avLst>
              <a:gd name="adj" fmla="val 3000"/>
            </a:avLst>
          </a:prstGeom>
          <a:solidFill>
            <a:srgbClr val="F2F6FD"/>
          </a:solidFill>
          <a:ln w="12700">
            <a:solidFill>
              <a:srgbClr val="E6EA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69164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F8E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1783080" y="16002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认识软件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783080" y="210312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知道「日程管理」能帮我们解决什么问题，熟悉界面。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72200" y="1371600"/>
            <a:ext cx="5303520" cy="1828800"/>
          </a:xfrm>
          <a:prstGeom prst="roundRect">
            <a:avLst>
              <a:gd name="adj" fmla="val 3000"/>
            </a:avLst>
          </a:prstGeom>
          <a:solidFill>
            <a:srgbClr val="F2F6FD"/>
          </a:solidFill>
          <a:ln w="12700">
            <a:solidFill>
              <a:srgbClr val="E6EA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169164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F8E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7452360" y="16002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掌握记录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452360" y="210312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学会记录日程和待办，会快速捕捉想法。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3566160"/>
            <a:ext cx="5303520" cy="1828800"/>
          </a:xfrm>
          <a:prstGeom prst="roundRect">
            <a:avLst>
              <a:gd name="adj" fmla="val 3000"/>
            </a:avLst>
          </a:prstGeom>
          <a:solidFill>
            <a:srgbClr val="F2F6FD"/>
          </a:solidFill>
          <a:ln w="12700">
            <a:solidFill>
              <a:srgbClr val="E6EA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88620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F8E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1783080" y="37947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会用方法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783080" y="429768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理解四象限、时间块、收件箱、周回顾并动手操作。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72200" y="3566160"/>
            <a:ext cx="5303520" cy="1828800"/>
          </a:xfrm>
          <a:prstGeom prst="roundRect">
            <a:avLst>
              <a:gd name="adj" fmla="val 3000"/>
            </a:avLst>
          </a:prstGeom>
          <a:solidFill>
            <a:srgbClr val="F2F6FD"/>
          </a:solidFill>
          <a:ln w="12700">
            <a:solidFill>
              <a:srgbClr val="E6EA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46520" y="388620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F8E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7452360" y="37947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安全使用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452360" y="429768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会备份数据、多设备同步，遇到问题能自查。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822960"/>
          </a:xfrm>
          <a:prstGeom prst="rect">
            <a:avLst/>
          </a:prstGeom>
          <a:solidFill>
            <a:srgbClr val="4F8EF7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64592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「日程管理」是什么？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868680"/>
            <a:ext cx="11183112" cy="0"/>
          </a:xfrm>
          <a:prstGeom prst="line">
            <a:avLst/>
          </a:prstGeom>
          <a:noFill/>
          <a:ln w="19050">
            <a:solidFill>
              <a:srgbClr val="E6EA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446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日程管理 v2.1.0 · 使用培训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91672" y="644652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280160"/>
            <a:ext cx="11155680" cy="1188720"/>
          </a:xfrm>
          <a:prstGeom prst="roundRect">
            <a:avLst>
              <a:gd name="adj" fmla="val 4615"/>
            </a:avLst>
          </a:prstGeom>
          <a:solidFill>
            <a:srgbClr val="F2F6FD"/>
          </a:solidFill>
          <a:ln w="12700">
            <a:solidFill>
              <a:srgbClr val="E6EA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41732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一款本地优先的个人时间管理工具：帮你「记下来」并「安排掉」要做的事。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02920" y="2743200"/>
            <a:ext cx="356616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6EA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743200"/>
            <a:ext cx="109728" cy="1371600"/>
          </a:xfrm>
          <a:prstGeom prst="rect">
            <a:avLst/>
          </a:prstGeom>
          <a:solidFill>
            <a:srgbClr val="4F8EF7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8803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📅 日程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7240" y="338328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有固定时间的安排，如会议、约会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297680" y="2743200"/>
            <a:ext cx="356616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6EA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97680" y="2743200"/>
            <a:ext cx="109728" cy="1371600"/>
          </a:xfrm>
          <a:prstGeom prst="rect">
            <a:avLst/>
          </a:prstGeom>
          <a:solidFill>
            <a:srgbClr val="4F8EF7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0" y="28803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待办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0" y="338328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要做但时间灵活的事，可设截止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092440" y="2743200"/>
            <a:ext cx="356616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6EA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92440" y="2743200"/>
            <a:ext cx="109728" cy="1371600"/>
          </a:xfrm>
          <a:prstGeom prst="rect">
            <a:avLst/>
          </a:prstGeom>
          <a:solidFill>
            <a:srgbClr val="4F8EF7"/>
          </a:solidFill>
          <a:ln/>
        </p:spPr>
      </p:sp>
      <p:sp>
        <p:nvSpPr>
          <p:cNvPr id="19" name="Text 17"/>
          <p:cNvSpPr/>
          <p:nvPr/>
        </p:nvSpPr>
        <p:spPr>
          <a:xfrm>
            <a:off x="8366760" y="28803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四象限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366760" y="338328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按重要×紧急自动分类排序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02920" y="4297680"/>
            <a:ext cx="356616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6EA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4297680"/>
            <a:ext cx="109728" cy="1371600"/>
          </a:xfrm>
          <a:prstGeom prst="rect">
            <a:avLst/>
          </a:prstGeom>
          <a:solidFill>
            <a:srgbClr val="4F8EF7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4348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⏱ 时间块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77240" y="493776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给任务预约具体时间段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297680" y="4297680"/>
            <a:ext cx="356616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6EA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297680" y="4297680"/>
            <a:ext cx="109728" cy="1371600"/>
          </a:xfrm>
          <a:prstGeom prst="rect">
            <a:avLst/>
          </a:prstGeom>
          <a:solidFill>
            <a:srgbClr val="4F8EF7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0" y="44348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📥 收件箱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572000" y="493776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随手记想法，之后统一整理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092440" y="4297680"/>
            <a:ext cx="356616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6EA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92440" y="4297680"/>
            <a:ext cx="109728" cy="1371600"/>
          </a:xfrm>
          <a:prstGeom prst="rect">
            <a:avLst/>
          </a:prstGeom>
          <a:solidFill>
            <a:srgbClr val="4F8EF7"/>
          </a:solidFill>
          <a:ln/>
        </p:spPr>
      </p:sp>
      <p:sp>
        <p:nvSpPr>
          <p:cNvPr id="31" name="Text 29"/>
          <p:cNvSpPr/>
          <p:nvPr/>
        </p:nvSpPr>
        <p:spPr>
          <a:xfrm>
            <a:off x="8366760" y="44348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🔁 周回顾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366760" y="493776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每周复盘完成与遗漏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02920" y="585216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F8E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核心价值：把「记下来」（捕捉）和「安排掉」（排程）分开，随时清空大脑，专注当下。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822960"/>
          </a:xfrm>
          <a:prstGeom prst="rect">
            <a:avLst/>
          </a:prstGeom>
          <a:solidFill>
            <a:srgbClr val="4F8EF7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64592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两个基础概念：日程 vs 待办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868680"/>
            <a:ext cx="11183112" cy="0"/>
          </a:xfrm>
          <a:prstGeom prst="line">
            <a:avLst/>
          </a:prstGeom>
          <a:noFill/>
          <a:ln w="19050">
            <a:solidFill>
              <a:srgbClr val="E6EA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446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日程管理 v2.1.0 · 使用培训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91672" y="644652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371600"/>
            <a:ext cx="5394960" cy="310896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E6EA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371600"/>
            <a:ext cx="5394960" cy="640080"/>
          </a:xfrm>
          <a:prstGeom prst="rect">
            <a:avLst/>
          </a:prstGeom>
          <a:solidFill>
            <a:srgbClr val="4F8EF7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37160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📅 日程（有固定时间）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77240" y="2194560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1F2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明天下午 3 点开会</a:t>
            </a:r>
            <a:endParaRPr lang="en-US" sz="15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1F2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周一出差</a:t>
            </a:r>
            <a:endParaRPr lang="en-US" sz="15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1F2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每天晨跑（可设重复）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77240" y="39319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在「日程」里按天/周/月查看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63640" y="1371600"/>
            <a:ext cx="5394960" cy="310896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E6EA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63640" y="1371600"/>
            <a:ext cx="5394960" cy="640080"/>
          </a:xfrm>
          <a:prstGeom prst="rect">
            <a:avLst/>
          </a:prstGeom>
          <a:solidFill>
            <a:srgbClr val="4CAF7D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137160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待办（要做、时间灵活）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537960" y="2194560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1F2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抽空写季度报告</a:t>
            </a:r>
            <a:endParaRPr lang="en-US" sz="15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1F2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交房租</a:t>
            </a:r>
            <a:endParaRPr lang="en-US" sz="15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1F2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有空健身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537960" y="39319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可设截止时间、预估耗时，自动进四象限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493776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5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判断口诀：有固定时间点 → 日程；没有固定时间、只要完成 → 待办。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822960"/>
          </a:xfrm>
          <a:prstGeom prst="rect">
            <a:avLst/>
          </a:prstGeom>
          <a:solidFill>
            <a:srgbClr val="4F8EF7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64592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四象限：分清轻重缓急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868680"/>
            <a:ext cx="11183112" cy="0"/>
          </a:xfrm>
          <a:prstGeom prst="line">
            <a:avLst/>
          </a:prstGeom>
          <a:noFill/>
          <a:ln w="19050">
            <a:solidFill>
              <a:srgbClr val="E6EA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446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日程管理 v2.1.0 · 使用培训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91672" y="644652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371600"/>
            <a:ext cx="5394960" cy="2103120"/>
          </a:xfrm>
          <a:prstGeom prst="roundRect">
            <a:avLst>
              <a:gd name="adj" fmla="val 2609"/>
            </a:avLst>
          </a:prstGeom>
          <a:solidFill>
            <a:srgbClr val="E05B5B"/>
          </a:solidFill>
          <a:ln w="12700">
            <a:solidFill>
              <a:srgbClr val="E6EA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64592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Q1 重要且紧急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77240" y="228600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立刻去做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63640" y="1371600"/>
            <a:ext cx="5394960" cy="2103120"/>
          </a:xfrm>
          <a:prstGeom prst="roundRect">
            <a:avLst>
              <a:gd name="adj" fmla="val 2609"/>
            </a:avLst>
          </a:prstGeom>
          <a:solidFill>
            <a:srgbClr val="4F8EF7"/>
          </a:solidFill>
          <a:ln w="12700">
            <a:solidFill>
              <a:srgbClr val="E6EA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164592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Q2 重要不紧急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537960" y="228600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重点投入 · 提前做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02920" y="3657600"/>
            <a:ext cx="5394960" cy="2103120"/>
          </a:xfrm>
          <a:prstGeom prst="roundRect">
            <a:avLst>
              <a:gd name="adj" fmla="val 2609"/>
            </a:avLst>
          </a:prstGeom>
          <a:solidFill>
            <a:srgbClr val="F2A541"/>
          </a:solidFill>
          <a:ln w="12700">
            <a:solidFill>
              <a:srgbClr val="E6EA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93192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Q3 紧急不重要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77240" y="457200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委托或快速处理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63640" y="3657600"/>
            <a:ext cx="5394960" cy="2103120"/>
          </a:xfrm>
          <a:prstGeom prst="roundRect">
            <a:avLst>
              <a:gd name="adj" fmla="val 2609"/>
            </a:avLst>
          </a:prstGeom>
          <a:solidFill>
            <a:srgbClr val="8A8F98"/>
          </a:solidFill>
          <a:ln w="12700">
            <a:solidFill>
              <a:srgbClr val="E6EA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37960" y="393192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Q4 不重要不紧急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537960" y="457200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尽量少做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02920" y="594360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软件根据你填写的「重要性」+ 截止时间自动判断「紧急性」，帮你归类并排序。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822960"/>
          </a:xfrm>
          <a:prstGeom prst="rect">
            <a:avLst/>
          </a:prstGeom>
          <a:solidFill>
            <a:srgbClr val="4F8EF7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64592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快速捕捉 &amp; 收件箱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868680"/>
            <a:ext cx="11183112" cy="0"/>
          </a:xfrm>
          <a:prstGeom prst="line">
            <a:avLst/>
          </a:prstGeom>
          <a:noFill/>
          <a:ln w="19050">
            <a:solidFill>
              <a:srgbClr val="E6EA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446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日程管理 v2.1.0 · 使用培训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91672" y="644652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371600"/>
            <a:ext cx="5486400" cy="2743200"/>
          </a:xfrm>
          <a:prstGeom prst="roundRect">
            <a:avLst>
              <a:gd name="adj" fmla="val 2000"/>
            </a:avLst>
          </a:prstGeom>
          <a:solidFill>
            <a:srgbClr val="F2F6FD"/>
          </a:solidFill>
          <a:ln w="12700">
            <a:solidFill>
              <a:srgbClr val="E6EA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55448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F8E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⚡ 快速捕捉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77240" y="219456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F2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电脑上随时按 Ctrl + Shift + N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F2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弹出小窗，输入想法，保存。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F2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几秒完成，不打断手头工作。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77240" y="3794760"/>
            <a:ext cx="3840480" cy="457200"/>
          </a:xfrm>
          <a:prstGeom prst="roundRect">
            <a:avLst>
              <a:gd name="adj" fmla="val 50000"/>
            </a:avLst>
          </a:prstGeom>
          <a:solidFill>
            <a:srgbClr val="4F8EF7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7947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Ctrl + Shift + 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63640" y="1371600"/>
            <a:ext cx="5486400" cy="2743200"/>
          </a:xfrm>
          <a:prstGeom prst="roundRect">
            <a:avLst>
              <a:gd name="adj" fmla="val 2000"/>
            </a:avLst>
          </a:prstGeom>
          <a:solidFill>
            <a:srgbClr val="F2F6FD"/>
          </a:solidFill>
          <a:ln w="12700">
            <a:solidFill>
              <a:srgbClr val="E6EA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155448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CAF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📥 收件箱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537960" y="2194560"/>
            <a:ext cx="4937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F2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存放所有「没整理」的零散想法。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F2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有空时逐个整理：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F2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要做的 → 补时间、重要度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F2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不做的 → 删除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F2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以后再说的 → 先留着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" y="512064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2A5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建议每天或每两天清空一次收件箱。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822960"/>
          </a:xfrm>
          <a:prstGeom prst="rect">
            <a:avLst/>
          </a:prstGeom>
          <a:solidFill>
            <a:srgbClr val="4F8EF7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64592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时间块 &amp; 今日规划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868680"/>
            <a:ext cx="11183112" cy="0"/>
          </a:xfrm>
          <a:prstGeom prst="line">
            <a:avLst/>
          </a:prstGeom>
          <a:noFill/>
          <a:ln w="19050">
            <a:solidFill>
              <a:srgbClr val="E6EA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446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日程管理 v2.1.0 · 使用培训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91672" y="644652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371600"/>
            <a:ext cx="2651760" cy="310896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E6EA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71600" y="1645920"/>
            <a:ext cx="914400" cy="914400"/>
          </a:xfrm>
          <a:prstGeom prst="ellipse">
            <a:avLst/>
          </a:prstGeom>
          <a:solidFill>
            <a:srgbClr val="4F8EF7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16459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85800" y="274320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给待办填「预估耗时」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" y="35661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如「写周报」估 30 分钟。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383280" y="1371600"/>
            <a:ext cx="2651760" cy="310896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E6EA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51960" y="1645920"/>
            <a:ext cx="914400" cy="914400"/>
          </a:xfrm>
          <a:prstGeom prst="ellipse">
            <a:avLst/>
          </a:prstGeom>
          <a:solidFill>
            <a:srgbClr val="4F8EF7"/>
          </a:solidFill>
          <a:ln/>
        </p:spPr>
      </p:sp>
      <p:sp>
        <p:nvSpPr>
          <p:cNvPr id="14" name="Text 12"/>
          <p:cNvSpPr/>
          <p:nvPr/>
        </p:nvSpPr>
        <p:spPr>
          <a:xfrm>
            <a:off x="4251960" y="16459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566160" y="274320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打开「今日规划」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566160" y="35661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自动在工作时段（9:00–18:00）找空闲槽位。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63640" y="1371600"/>
            <a:ext cx="2651760" cy="310896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E6EA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0" y="1645920"/>
            <a:ext cx="914400" cy="914400"/>
          </a:xfrm>
          <a:prstGeom prst="ellipse">
            <a:avLst/>
          </a:prstGeom>
          <a:solidFill>
            <a:srgbClr val="4F8EF7"/>
          </a:solidFill>
          <a:ln/>
        </p:spPr>
      </p:sp>
      <p:sp>
        <p:nvSpPr>
          <p:cNvPr id="19" name="Text 17"/>
          <p:cNvSpPr/>
          <p:nvPr/>
        </p:nvSpPr>
        <p:spPr>
          <a:xfrm>
            <a:off x="7132320" y="16459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446520" y="274320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自动排进时间线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46520" y="35661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避开已有日程，生成「几点做什么」。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144000" y="1371600"/>
            <a:ext cx="2651760" cy="310896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E6EA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012680" y="1645920"/>
            <a:ext cx="914400" cy="914400"/>
          </a:xfrm>
          <a:prstGeom prst="ellipse">
            <a:avLst/>
          </a:prstGeom>
          <a:solidFill>
            <a:srgbClr val="4F8EF7"/>
          </a:solidFill>
          <a:ln/>
        </p:spPr>
      </p:sp>
      <p:sp>
        <p:nvSpPr>
          <p:cNvPr id="24" name="Text 22"/>
          <p:cNvSpPr/>
          <p:nvPr/>
        </p:nvSpPr>
        <p:spPr>
          <a:xfrm>
            <a:off x="10012680" y="16459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9326880" y="274320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点「应用排程到日程」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326880" y="35661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时间块正式变成日程，照表执行。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02920" y="493776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AF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好处：每天开始前就知道「几点做什么」，减少临时决策，注意力更集中。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02920" y="557784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注意：自动排程只在工作时段内进行，每 30 分钟一个槽位，留 5 分钟缓冲。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822960"/>
          </a:xfrm>
          <a:prstGeom prst="rect">
            <a:avLst/>
          </a:prstGeom>
          <a:solidFill>
            <a:srgbClr val="4F8EF7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64592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周回顾：每周复盘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868680"/>
            <a:ext cx="11183112" cy="0"/>
          </a:xfrm>
          <a:prstGeom prst="line">
            <a:avLst/>
          </a:prstGeom>
          <a:noFill/>
          <a:ln w="19050">
            <a:solidFill>
              <a:srgbClr val="E6EA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446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日程管理 v2.1.0 · 使用培训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91672" y="644652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371600"/>
            <a:ext cx="11155680" cy="1234440"/>
          </a:xfrm>
          <a:prstGeom prst="roundRect">
            <a:avLst>
              <a:gd name="adj" fmla="val 4444"/>
            </a:avLst>
          </a:prstGeom>
          <a:solidFill>
            <a:srgbClr val="F2F6FD"/>
          </a:solidFill>
          <a:ln w="12700">
            <a:solidFill>
              <a:srgbClr val="E6EA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371600"/>
            <a:ext cx="137160" cy="1234440"/>
          </a:xfrm>
          <a:prstGeom prst="rect">
            <a:avLst/>
          </a:prstGeom>
          <a:solidFill>
            <a:srgbClr val="4CAF7D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554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CAF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本周已完成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20116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这周做完了什么，给自己一点成就感。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2834640"/>
            <a:ext cx="11155680" cy="1234440"/>
          </a:xfrm>
          <a:prstGeom prst="roundRect">
            <a:avLst>
              <a:gd name="adj" fmla="val 4444"/>
            </a:avLst>
          </a:prstGeom>
          <a:solidFill>
            <a:srgbClr val="F2F6FD"/>
          </a:solidFill>
          <a:ln w="12700">
            <a:solidFill>
              <a:srgbClr val="E6EA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834640"/>
            <a:ext cx="137160" cy="1234440"/>
          </a:xfrm>
          <a:prstGeom prst="rect">
            <a:avLst/>
          </a:prstGeom>
          <a:solidFill>
            <a:srgbClr val="E05B5B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0175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5B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逾期未完成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34747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过了截止时间还没做的事，尽快处理。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4297680"/>
            <a:ext cx="11155680" cy="1234440"/>
          </a:xfrm>
          <a:prstGeom prst="roundRect">
            <a:avLst>
              <a:gd name="adj" fmla="val 4444"/>
            </a:avLst>
          </a:prstGeom>
          <a:solidFill>
            <a:srgbClr val="F2F6FD"/>
          </a:solidFill>
          <a:ln w="12700">
            <a:solidFill>
              <a:srgbClr val="E6EA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4297680"/>
            <a:ext cx="137160" cy="1234440"/>
          </a:xfrm>
          <a:prstGeom prst="rect">
            <a:avLst/>
          </a:prstGeom>
          <a:solidFill>
            <a:srgbClr val="F2A541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4805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5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需要关注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14400" y="49377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没整理、没截止时间的零散事项。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" y="585216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E6F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建议固定时间：如每周五下班前 20 分钟，养成复盘习惯。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822960"/>
          </a:xfrm>
          <a:prstGeom prst="rect">
            <a:avLst/>
          </a:prstGeom>
          <a:solidFill>
            <a:srgbClr val="4F8EF7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64592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统计：成长看得见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868680"/>
            <a:ext cx="11183112" cy="0"/>
          </a:xfrm>
          <a:prstGeom prst="line">
            <a:avLst/>
          </a:prstGeom>
          <a:noFill/>
          <a:ln w="19050">
            <a:solidFill>
              <a:srgbClr val="E6EA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446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日程管理 v2.1.0 · 使用培训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91672" y="644652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371600"/>
            <a:ext cx="530352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6EA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691640"/>
            <a:ext cx="914400" cy="914400"/>
          </a:xfrm>
          <a:prstGeom prst="ellipse">
            <a:avLst/>
          </a:prstGeom>
          <a:solidFill>
            <a:srgbClr val="8E6FD8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6916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874520" y="16459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完成率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874520" y="21031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待办完成了几成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72200" y="1371600"/>
            <a:ext cx="530352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6EA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46520" y="1691640"/>
            <a:ext cx="914400" cy="914400"/>
          </a:xfrm>
          <a:prstGeom prst="ellipse">
            <a:avLst/>
          </a:prstGeom>
          <a:solidFill>
            <a:srgbClr val="8E6FD8"/>
          </a:solidFill>
          <a:ln/>
        </p:spPr>
      </p:sp>
      <p:sp>
        <p:nvSpPr>
          <p:cNvPr id="14" name="Text 12"/>
          <p:cNvSpPr/>
          <p:nvPr/>
        </p:nvSpPr>
        <p:spPr>
          <a:xfrm>
            <a:off x="6446520" y="16916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543800" y="16459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逾期情况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543800" y="21031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有多少事逾期了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02920" y="3200400"/>
            <a:ext cx="530352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6EA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3520440"/>
            <a:ext cx="914400" cy="914400"/>
          </a:xfrm>
          <a:prstGeom prst="ellipse">
            <a:avLst/>
          </a:prstGeom>
          <a:solidFill>
            <a:srgbClr val="8E6FD8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5204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874520" y="34747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四象限分布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874520" y="39319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时间花在重要的事上多吗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172200" y="3200400"/>
            <a:ext cx="530352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6EA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46520" y="3520440"/>
            <a:ext cx="914400" cy="914400"/>
          </a:xfrm>
          <a:prstGeom prst="ellipse">
            <a:avLst/>
          </a:prstGeom>
          <a:solidFill>
            <a:srgbClr val="8E6FD8"/>
          </a:solidFill>
          <a:ln/>
        </p:spPr>
      </p:sp>
      <p:sp>
        <p:nvSpPr>
          <p:cNvPr id="24" name="Text 22"/>
          <p:cNvSpPr/>
          <p:nvPr/>
        </p:nvSpPr>
        <p:spPr>
          <a:xfrm>
            <a:off x="6446520" y="35204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543800" y="34747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趋势图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543800" y="39319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随时间的完成变化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02920" y="585216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不用天天看，每周或每月扫一眼即可，帮助调整工作习惯。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822960"/>
          </a:xfrm>
          <a:prstGeom prst="rect">
            <a:avLst/>
          </a:prstGeom>
          <a:solidFill>
            <a:srgbClr val="4F8EF7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64592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数据安全与备份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868680"/>
            <a:ext cx="11183112" cy="0"/>
          </a:xfrm>
          <a:prstGeom prst="line">
            <a:avLst/>
          </a:prstGeom>
          <a:noFill/>
          <a:ln w="19050">
            <a:solidFill>
              <a:srgbClr val="E6EA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446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日程管理 v2.1.0 · 使用培训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91672" y="644652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371600"/>
            <a:ext cx="5303520" cy="1737360"/>
          </a:xfrm>
          <a:prstGeom prst="roundRect">
            <a:avLst>
              <a:gd name="adj" fmla="val 3158"/>
            </a:avLst>
          </a:prstGeom>
          <a:solidFill>
            <a:srgbClr val="F2F6FD"/>
          </a:solidFill>
          <a:ln w="12700">
            <a:solidFill>
              <a:srgbClr val="E6EA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5544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F8E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🔒 本地优先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210312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数据默认存本地，联网与否都能用；同步是可选项。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72200" y="1371600"/>
            <a:ext cx="5303520" cy="1737360"/>
          </a:xfrm>
          <a:prstGeom prst="roundRect">
            <a:avLst>
              <a:gd name="adj" fmla="val 3158"/>
            </a:avLst>
          </a:prstGeom>
          <a:solidFill>
            <a:srgbClr val="F2F6FD"/>
          </a:solidFill>
          <a:ln w="12700">
            <a:solidFill>
              <a:srgbClr val="E6EA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5544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CAF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💾 自动保存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46520" y="210312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每次修改自动落盘，原子写盘防损坏。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3383280"/>
            <a:ext cx="5303520" cy="1737360"/>
          </a:xfrm>
          <a:prstGeom prst="roundRect">
            <a:avLst>
              <a:gd name="adj" fmla="val 3158"/>
            </a:avLst>
          </a:prstGeom>
          <a:solidFill>
            <a:srgbClr val="F2F6FD"/>
          </a:solidFill>
          <a:ln w="12700">
            <a:solidFill>
              <a:srgbClr val="E6EA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5661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5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🕓 自动备份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77240" y="411480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自动保留最近 10 份历史备份，可一键恢复。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72200" y="3383280"/>
            <a:ext cx="5303520" cy="1737360"/>
          </a:xfrm>
          <a:prstGeom prst="roundRect">
            <a:avLst>
              <a:gd name="adj" fmla="val 3158"/>
            </a:avLst>
          </a:prstGeom>
          <a:solidFill>
            <a:srgbClr val="F2F6FD"/>
          </a:solidFill>
          <a:ln w="12700">
            <a:solidFill>
              <a:srgbClr val="E6EA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35661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E6F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📤 导出 / 导入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46520" y="411480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一键导出为 JSON 文件，可迁移或存档。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" y="576072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5B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建议：重要数据定期「导出」一份，存 U 盘或网盘，双保险。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822960"/>
          </a:xfrm>
          <a:prstGeom prst="rect">
            <a:avLst/>
          </a:prstGeom>
          <a:solidFill>
            <a:srgbClr val="4F8EF7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64592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多设备同步（可选）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868680"/>
            <a:ext cx="11183112" cy="0"/>
          </a:xfrm>
          <a:prstGeom prst="line">
            <a:avLst/>
          </a:prstGeom>
          <a:noFill/>
          <a:ln w="19050">
            <a:solidFill>
              <a:srgbClr val="E6EA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446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日程管理 v2.1.0 · 使用培训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91672" y="644652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371600"/>
            <a:ext cx="5486400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E6EA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5544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F8E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💻 电脑端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2103120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F2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设置 → 同步 → 填服务器地址 → 注册/登录 → 立即同步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63640" y="1371600"/>
            <a:ext cx="5486400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E6EA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15544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CAF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📱 手机端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37960" y="2103120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F2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设置 → 同步 → 填同一服务器地址 → 登录同一账号 → 自动同步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" y="4572000"/>
            <a:ext cx="11155680" cy="1188720"/>
          </a:xfrm>
          <a:prstGeom prst="roundRect">
            <a:avLst>
              <a:gd name="adj" fmla="val 4615"/>
            </a:avLst>
          </a:prstGeom>
          <a:solidFill>
            <a:srgbClr val="F2F6FD"/>
          </a:solidFill>
          <a:ln w="12700">
            <a:solidFill>
              <a:srgbClr val="E6EA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470916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同步规则：以「最后修改」为准（不会互相覆盖）；删除也会同步，不会死灰复燃。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02920" y="585216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前提：需要一个「服务器地址」（由管理员提供）。单机使用可跳过。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822960"/>
          </a:xfrm>
          <a:prstGeom prst="rect">
            <a:avLst/>
          </a:prstGeom>
          <a:solidFill>
            <a:srgbClr val="4F8EF7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64592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动手演示：记一件待办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868680"/>
            <a:ext cx="11183112" cy="0"/>
          </a:xfrm>
          <a:prstGeom prst="line">
            <a:avLst/>
          </a:prstGeom>
          <a:noFill/>
          <a:ln w="19050">
            <a:solidFill>
              <a:srgbClr val="E6EA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446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日程管理 v2.1.0 · 使用培训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91672" y="644652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371600"/>
            <a:ext cx="2651760" cy="329184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E6EA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16459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F8E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1371600" y="1645920"/>
            <a:ext cx="914400" cy="914400"/>
          </a:xfrm>
          <a:prstGeom prst="ellipse">
            <a:avLst/>
          </a:prstGeom>
          <a:solidFill>
            <a:srgbClr val="4F8EF7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74320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点「✅ 待办」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365760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进入待办清单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383280" y="1371600"/>
            <a:ext cx="2651760" cy="329184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E6EA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51960" y="16459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F8E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4251960" y="1645920"/>
            <a:ext cx="914400" cy="914400"/>
          </a:xfrm>
          <a:prstGeom prst="ellipse">
            <a:avLst/>
          </a:prstGeom>
          <a:solidFill>
            <a:srgbClr val="4F8EF7"/>
          </a:solidFill>
          <a:ln/>
        </p:spPr>
      </p:sp>
      <p:sp>
        <p:nvSpPr>
          <p:cNvPr id="15" name="Text 13"/>
          <p:cNvSpPr/>
          <p:nvPr/>
        </p:nvSpPr>
        <p:spPr>
          <a:xfrm>
            <a:off x="3566160" y="274320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点「＋ 新增待办」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566160" y="365760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打开填写窗口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63640" y="1371600"/>
            <a:ext cx="2651760" cy="329184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E6EA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0" y="16459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F8E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7132320" y="1645920"/>
            <a:ext cx="914400" cy="914400"/>
          </a:xfrm>
          <a:prstGeom prst="ellipse">
            <a:avLst/>
          </a:prstGeom>
          <a:solidFill>
            <a:srgbClr val="4F8EF7"/>
          </a:solidFill>
          <a:ln/>
        </p:spPr>
      </p:sp>
      <p:sp>
        <p:nvSpPr>
          <p:cNvPr id="20" name="Text 18"/>
          <p:cNvSpPr/>
          <p:nvPr/>
        </p:nvSpPr>
        <p:spPr>
          <a:xfrm>
            <a:off x="6446520" y="274320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填标题、截止、预估耗时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46520" y="365760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如「写季度报告」1 小时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144000" y="1371600"/>
            <a:ext cx="2651760" cy="329184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E6EA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12680" y="16459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F8E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600" dirty="0"/>
          </a:p>
        </p:txBody>
      </p:sp>
      <p:sp>
        <p:nvSpPr>
          <p:cNvPr id="24" name="Shape 22"/>
          <p:cNvSpPr/>
          <p:nvPr/>
        </p:nvSpPr>
        <p:spPr>
          <a:xfrm>
            <a:off x="10012680" y="1645920"/>
            <a:ext cx="914400" cy="914400"/>
          </a:xfrm>
          <a:prstGeom prst="ellipse">
            <a:avLst/>
          </a:prstGeom>
          <a:solidFill>
            <a:srgbClr val="4F8EF7"/>
          </a:solidFill>
          <a:ln/>
        </p:spPr>
      </p:sp>
      <p:sp>
        <p:nvSpPr>
          <p:cNvPr id="25" name="Text 23"/>
          <p:cNvSpPr/>
          <p:nvPr/>
        </p:nvSpPr>
        <p:spPr>
          <a:xfrm>
            <a:off x="9326880" y="274320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点「保存」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326880" y="365760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待办进入清单，自动归类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02920" y="512064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AF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跟着做一遍：现在就在你的软件里，新建一条待办试试。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822960"/>
          </a:xfrm>
          <a:prstGeom prst="rect">
            <a:avLst/>
          </a:prstGeom>
          <a:solidFill>
            <a:srgbClr val="4F8EF7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64592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常见问题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868680"/>
            <a:ext cx="11183112" cy="0"/>
          </a:xfrm>
          <a:prstGeom prst="line">
            <a:avLst/>
          </a:prstGeom>
          <a:noFill/>
          <a:ln w="19050">
            <a:solidFill>
              <a:srgbClr val="E6EA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446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日程管理 v2.1.0 · 使用培训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91672" y="644652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132588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8E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Q：数据会不会丢？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126480" y="1325880"/>
            <a:ext cx="5577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A：不会。自动保存 + 自动备份（10 份）+ 可导出。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28600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8E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Q：为什么没出现在今日规划？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126480" y="2286000"/>
            <a:ext cx="5577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A：需填写「预估耗时」，且未完成、未排程。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324612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8E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Q：自动排的时间能改吗？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126480" y="3246120"/>
            <a:ext cx="5577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A：能，应用后就是普通日程，可编辑。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420624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8E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Q：快捷键没反应？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126480" y="4206240"/>
            <a:ext cx="5577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A：确认软件在运行，且快捷键未被其他软件占用。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516636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8E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Q：怎么搬数据？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126480" y="5166360"/>
            <a:ext cx="5577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A：旧电脑导出 → 新电脑导入。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822960"/>
          </a:xfrm>
          <a:prstGeom prst="rect">
            <a:avLst/>
          </a:prstGeom>
          <a:solidFill>
            <a:srgbClr val="4F8EF7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64592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培训总结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868680"/>
            <a:ext cx="11183112" cy="0"/>
          </a:xfrm>
          <a:prstGeom prst="line">
            <a:avLst/>
          </a:prstGeom>
          <a:noFill/>
          <a:ln w="19050">
            <a:solidFill>
              <a:srgbClr val="E6EA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446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日程管理 v2.1.0 · 使用培训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091672" y="644652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371600"/>
            <a:ext cx="11155680" cy="2743200"/>
          </a:xfrm>
          <a:prstGeom prst="roundRect">
            <a:avLst>
              <a:gd name="adj" fmla="val 2000"/>
            </a:avLst>
          </a:prstGeom>
          <a:solidFill>
            <a:srgbClr val="F2F6FD"/>
          </a:solidFill>
          <a:ln w="12700">
            <a:solidFill>
              <a:srgbClr val="E6EA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554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今天你学会了：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77240" y="2148840"/>
            <a:ext cx="104241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600" dirty="0">
                <a:solidFill>
                  <a:srgbClr val="1F2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记录日程和待办　② 快速捕捉想法　③ 用四象限排序</a:t>
            </a:r>
            <a:endParaRPr lang="en-US" sz="16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600" dirty="0">
                <a:solidFill>
                  <a:srgbClr val="1F2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用时间块安排今天　⑤ 整理收件箱　⑥ 周回顾　⑦ 备份与同步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2920" y="4572000"/>
            <a:ext cx="11155680" cy="1188720"/>
          </a:xfrm>
          <a:prstGeom prst="roundRect">
            <a:avLst>
              <a:gd name="adj" fmla="val 4615"/>
            </a:avLst>
          </a:prstGeom>
          <a:solidFill>
            <a:srgbClr val="4F8EF7"/>
          </a:solidFill>
          <a:ln w="12700">
            <a:solidFill>
              <a:srgbClr val="E6EA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470916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接下来：参加考核（15 题 / 100 分 / 及格 60 分），验证培训效果。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4F8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0"/>
            <a:ext cx="11155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谢谢参加培训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502920" y="365760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现在就开始：记下第一件事，把它排进今天的日程。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02920" y="530352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日程管理 v2.1.0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日程管理 v2.1.0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日程管理 使用培训</dc:title>
  <dc:subject>PptxGenJS Presentation</dc:subject>
  <dc:creator>日程管理</dc:creator>
  <cp:lastModifiedBy>日程管理</cp:lastModifiedBy>
  <cp:revision>1</cp:revision>
  <dcterms:created xsi:type="dcterms:W3CDTF">2026-08-22T11:45:08Z</dcterms:created>
  <dcterms:modified xsi:type="dcterms:W3CDTF">2026-08-22T11:45:08Z</dcterms:modified>
</cp:coreProperties>
</file>